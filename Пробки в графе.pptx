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C2E3"/>
    <a:srgbClr val="96648C"/>
    <a:srgbClr val="0F2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05" autoAdjust="0"/>
    <p:restoredTop sz="94660"/>
  </p:normalViewPr>
  <p:slideViewPr>
    <p:cSldViewPr snapToGrid="0">
      <p:cViewPr>
        <p:scale>
          <a:sx n="100" d="100"/>
          <a:sy n="100" d="100"/>
        </p:scale>
        <p:origin x="936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CF4BA-1EC0-E68C-899B-10756FFE7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2E4D67-7F57-F3E6-C85C-69FA4C796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41449D-8A04-0839-B075-36267398C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7E6AAA-10F3-58D9-1BF7-703F5801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CBE1A8-2609-8909-46E6-6FA04EE8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35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B3E43-955B-2DB2-B649-AF690461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6AB340-AA8B-ED35-668F-C803D89E2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A9D935-A8D0-27B6-BC4C-FDA28D24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35DC4-72F6-DC57-E846-1DB8C3F81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F9F5E5-40F8-14D0-95CB-5FFC9AEC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561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1EECF-452A-AA02-D2E2-8A31DE98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889E21-EB60-A7C9-6542-C11ABB501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7BE383-D5DE-792C-4724-E647DB92A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92460D-727C-D404-D043-73ACDC90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4A2419-DDE7-AE8E-F021-06D0C98E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99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108DF-DFD1-0C5B-43DD-A4B18DB1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4E5E6A-543E-581D-7D99-1D329269E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9C8FFA-32CB-ABEA-9868-31A350DC9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939AB6-B84E-2FB0-AB84-8BEC75F31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6F221D-1475-3480-54E4-0F0CCF47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98E27-4E56-ED97-8A7F-045232CF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96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E5D9F-A3A2-55B9-3722-8DB0ED236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93345A-AECE-A76E-43CE-2CCAC1370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F34335-EB8C-9FD6-77B0-FB14FF8C7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6FEEBD9-E91D-6BD7-01A0-8BFF44B248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E8F4392-9A30-013C-2B36-9281BD900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1F452D-4F54-2E0F-DCEC-9DA811FB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20BE8CF-E1EC-E86C-4B2D-94B0644C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D0C4791-AD53-878B-F913-330A4C3F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84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5D268-A606-13A1-B13E-3BD8A494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BD0A06-934F-3A54-8BB3-B33D6DB71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0F7E117-8F85-8089-CB5B-6FBBA06B2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D0DCEF-E575-D7BF-6B09-31FA0C22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35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167EA7-3608-7CC7-D9BC-E21FDBA88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3BC28F-2820-ED68-2463-4F2EBDE6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58A440-50AE-BD75-876F-4C06D2CD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32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0E280-9321-EF6C-23F1-56ADB8F53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08B684-BF0D-1662-328C-C1DB5484D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2BB011-5101-EADB-66E0-91F47476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D9C09B-20BA-59AB-E42B-6DDEE6147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FFFDF3-9CCA-8301-C514-71C6B91FC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6D7303-4162-E263-4DBE-F8FC5627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BE8AE-56BE-F3A3-9080-EAD0F04F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35BCF25-5C73-E3B0-C2F4-015DE6D80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43C996-77F0-5D4D-359D-DF09FD2F2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8B90CA-A54E-FD42-B2CE-A0B89BAE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D8A597-15DC-66B8-B81E-93795A00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238622-C5CB-65FD-02CA-861327B7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17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77BB4-999F-2997-4DD3-7886073F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698356-CB6F-12FE-0C55-6410AE047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9E0E6E-B225-6F9B-7CF4-C2C4B5558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BC0876-A3A3-B21E-C2BC-D84F4E58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F6C627-B413-648F-E2AB-5A63993F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22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294CA7-DBA6-5BAC-68BB-45B4B8A83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35090A-2858-7CDF-70F3-617994892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4A7F63-C910-F1EA-F005-5E12489B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72756-A5AD-DF1D-D713-A33DFCEF2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EBD8D-47B3-E4B1-1AF8-828DD974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69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6E5AE-DBC7-86D0-06CA-0D91C9EE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FC3D47-F8E4-B1E9-DC37-5B80C3BDE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18467E-765B-5F35-590D-DB9C461D4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A98BC-007B-4283-8A3B-E3FE9C66FD02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94F736-304E-EE0D-8FC6-C8649C190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7C3DB-D9B0-564E-A95B-25664AA5A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F95D3-2F21-475E-8A8E-B47FAE4FD0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91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">
              <a:srgbClr val="0F2D69"/>
            </a:gs>
            <a:gs pos="98000">
              <a:srgbClr val="0F2D69"/>
            </a:gs>
            <a:gs pos="52000">
              <a:schemeClr val="accent5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5D542-4315-C2F7-5F0A-8B7CF2FA2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Пробки в графе</a:t>
            </a:r>
            <a:r>
              <a:rPr lang="en-US" b="1" dirty="0"/>
              <a:t>:</a:t>
            </a:r>
            <a:r>
              <a:rPr lang="ru-RU" b="1" dirty="0"/>
              <a:t> анализ значимости теории графов в</a:t>
            </a:r>
            <a:br>
              <a:rPr lang="ru-RU" b="1" dirty="0"/>
            </a:br>
            <a:r>
              <a:rPr lang="ru-RU" b="1" dirty="0"/>
              <a:t>повседневной жизни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DFD465-7A3F-5189-92E0-91747B16A1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i="1" dirty="0"/>
              <a:t>Команда «Низкоуровневый»:</a:t>
            </a:r>
            <a:br>
              <a:rPr lang="ru-RU" i="1" dirty="0"/>
            </a:br>
            <a:r>
              <a:rPr lang="ru-RU" i="1" dirty="0"/>
              <a:t>Гарипов Тимур, ГБОУ Школа №1400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0CA893-DC2F-9DB0-7078-6B41B1880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004925" y="5192431"/>
            <a:ext cx="2539669" cy="4839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B0D3EF-B30D-F71E-844E-0AEB3D122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141" y="5051799"/>
            <a:ext cx="761598" cy="765174"/>
          </a:xfrm>
          <a:prstGeom prst="rect">
            <a:avLst/>
          </a:prstGeom>
        </p:spPr>
      </p:pic>
      <p:pic>
        <p:nvPicPr>
          <p:cNvPr id="9" name="Рисунок 8" descr="Изображение выглядит как графическая вставка, снимок экрана, График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EBD64E-62DE-0C98-7193-61D86B2D2D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929" y="4816167"/>
            <a:ext cx="1067417" cy="1067417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Шрифт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64847A-9BFF-967A-BC89-B451C7F2A2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827" y="4045210"/>
            <a:ext cx="2609330" cy="260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6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">
              <a:srgbClr val="0F2D69"/>
            </a:gs>
            <a:gs pos="98000">
              <a:srgbClr val="0F2D69"/>
            </a:gs>
            <a:gs pos="83000">
              <a:srgbClr val="E0C2E3"/>
            </a:gs>
            <a:gs pos="22000">
              <a:srgbClr val="E0C2E3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3E327-734A-3015-A29A-BDF8930A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336F17-3B01-ACBF-78D4-40F1BFC5B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645" y="2183546"/>
            <a:ext cx="9144000" cy="1655762"/>
          </a:xfrm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spcAft>
                <a:spcPts val="100"/>
              </a:spcAft>
            </a:pPr>
            <a:r>
              <a:rPr lang="ru-RU" sz="1800" b="1" dirty="0">
                <a:solidFill>
                  <a:srgbClr val="0E263E"/>
                </a:solidFill>
              </a:rPr>
              <a:t>Объект исследования </a:t>
            </a:r>
            <a:r>
              <a:rPr lang="ru-RU" sz="1800" dirty="0"/>
              <a:t>– городская дорожная сеть, представленная в виде взвешенного ориентированного графа, где вершины – перекрёстки, а рёбра – дороги с пропускной способностью и временем проезда. </a:t>
            </a:r>
          </a:p>
          <a:p>
            <a:pPr algn="just">
              <a:spcBef>
                <a:spcPts val="600"/>
              </a:spcBef>
              <a:spcAft>
                <a:spcPts val="100"/>
              </a:spcAft>
            </a:pPr>
            <a:r>
              <a:rPr lang="ru-RU" sz="1800" b="1" dirty="0">
                <a:solidFill>
                  <a:srgbClr val="0E263E"/>
                </a:solidFill>
              </a:rPr>
              <a:t>Предмет исследования </a:t>
            </a:r>
            <a:r>
              <a:rPr lang="ru-RU" sz="1800" dirty="0"/>
              <a:t>– алгоритмы поиска кратчайшего пути (</a:t>
            </a:r>
            <a:r>
              <a:rPr lang="ru-RU" sz="1800" dirty="0" err="1"/>
              <a:t>Дейкстра</a:t>
            </a:r>
            <a:r>
              <a:rPr lang="ru-RU" sz="1800" dirty="0"/>
              <a:t>, A*) и их адаптация к динамически изменяющимся условиям (загруженность дорог, работа светофоров). </a:t>
            </a:r>
          </a:p>
          <a:p>
            <a:pPr algn="just">
              <a:spcBef>
                <a:spcPts val="600"/>
              </a:spcBef>
              <a:spcAft>
                <a:spcPts val="100"/>
              </a:spcAft>
            </a:pPr>
            <a:r>
              <a:rPr lang="ru-RU" sz="1800" b="1" dirty="0">
                <a:solidFill>
                  <a:srgbClr val="0E263E"/>
                </a:solidFill>
              </a:rPr>
              <a:t>Цель работы </a:t>
            </a:r>
            <a:r>
              <a:rPr lang="ru-RU" sz="1800" dirty="0"/>
              <a:t>– разработать интерактивную программу с визуализацией дорожной сети, позволяющую наглядно продемонстрировать работу алгоритмов маршрутизации и влияние теории графов на повседневную навигацию.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417C6-A106-5786-8ED1-91DE06B5A1B4}"/>
              </a:ext>
            </a:extLst>
          </p:cNvPr>
          <p:cNvSpPr txBox="1"/>
          <p:nvPr/>
        </p:nvSpPr>
        <p:spPr>
          <a:xfrm>
            <a:off x="480645" y="1229439"/>
            <a:ext cx="4841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Постановка задачи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49795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">
              <a:srgbClr val="0F2D69"/>
            </a:gs>
            <a:gs pos="98000">
              <a:srgbClr val="0F2D69"/>
            </a:gs>
            <a:gs pos="83000">
              <a:srgbClr val="E0C2E3"/>
            </a:gs>
            <a:gs pos="22000">
              <a:srgbClr val="E0C2E3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A0004-1E1F-68D7-87A1-6DB593CA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8856BC-0A65-5B65-51FD-12D96E084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645" y="2183545"/>
            <a:ext cx="10046678" cy="1989869"/>
          </a:xfrm>
        </p:spPr>
        <p:txBody>
          <a:bodyPr>
            <a:noAutofit/>
          </a:bodyPr>
          <a:lstStyle/>
          <a:p>
            <a:pPr algn="just">
              <a:spcBef>
                <a:spcPts val="800"/>
              </a:spcBef>
            </a:pPr>
            <a:r>
              <a:rPr lang="ru-RU" sz="1800" dirty="0"/>
              <a:t>С каждым годом количество автомобилей в городах растёт, а дорожная инфраструктура остаётся прежней – это приводит к хроническим заторам. </a:t>
            </a:r>
          </a:p>
          <a:p>
            <a:pPr algn="just">
              <a:spcBef>
                <a:spcPts val="800"/>
              </a:spcBef>
            </a:pPr>
            <a:r>
              <a:rPr lang="ru-RU" sz="1800" dirty="0"/>
              <a:t>Современные навигаторы (</a:t>
            </a:r>
            <a:r>
              <a:rPr lang="ru-RU" sz="1800" dirty="0" err="1"/>
              <a:t>Яндекс.Навигатор</a:t>
            </a:r>
            <a:r>
              <a:rPr lang="ru-RU" sz="1800" dirty="0"/>
              <a:t>, Google Maps) ежесекундно решают задачи поиска оптимальных маршрутов, используя алгоритмы на графах. </a:t>
            </a:r>
          </a:p>
          <a:p>
            <a:pPr algn="just">
              <a:spcBef>
                <a:spcPts val="800"/>
              </a:spcBef>
            </a:pPr>
            <a:r>
              <a:rPr lang="ru-RU" sz="1800" dirty="0"/>
              <a:t>Теория графов лежит в основе не только навигации, но и глобальной логистики, управления городскими потоками и планирования транспортных сетей.</a:t>
            </a:r>
            <a:endParaRPr lang="en-US" sz="32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E2A15-AAD9-641B-C0E3-D4FC41CC8A1E}"/>
              </a:ext>
            </a:extLst>
          </p:cNvPr>
          <p:cNvSpPr txBox="1"/>
          <p:nvPr/>
        </p:nvSpPr>
        <p:spPr>
          <a:xfrm>
            <a:off x="480645" y="1229439"/>
            <a:ext cx="4841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100"/>
              </a:spcAft>
            </a:pPr>
            <a:r>
              <a:rPr lang="ru-RU" sz="2800" b="1" u="sng" dirty="0"/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215954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">
              <a:srgbClr val="0F2D69"/>
            </a:gs>
            <a:gs pos="98000">
              <a:srgbClr val="0F2D69"/>
            </a:gs>
            <a:gs pos="83000">
              <a:srgbClr val="E0C2E3"/>
            </a:gs>
            <a:gs pos="22000">
              <a:srgbClr val="E0C2E3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03F4A-7F7A-B434-4107-3DC2D79ED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446347-1E40-90FC-9ADF-DC964F899E5D}"/>
              </a:ext>
            </a:extLst>
          </p:cNvPr>
          <p:cNvSpPr txBox="1"/>
          <p:nvPr/>
        </p:nvSpPr>
        <p:spPr>
          <a:xfrm>
            <a:off x="1069183" y="1189939"/>
            <a:ext cx="11122817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2800" b="1" dirty="0"/>
              <a:t>Архитектура</a:t>
            </a:r>
            <a:r>
              <a:rPr lang="en-US" sz="2800" b="1" dirty="0"/>
              <a:t>                     </a:t>
            </a:r>
            <a:r>
              <a:rPr lang="ru-RU" sz="2800" b="1" dirty="0"/>
              <a:t>Визуализация сравнения алгоритмов</a:t>
            </a:r>
            <a:endParaRPr lang="ru-RU" sz="2800" dirty="0"/>
          </a:p>
          <a:p>
            <a:pPr algn="just">
              <a:spcBef>
                <a:spcPts val="600"/>
              </a:spcBef>
            </a:pPr>
            <a:endParaRPr lang="ru-RU" sz="2800" b="1" dirty="0"/>
          </a:p>
          <a:p>
            <a:endParaRPr lang="ru-RU" sz="2800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A971C59-A394-5A97-6936-FA3406657405}"/>
              </a:ext>
            </a:extLst>
          </p:cNvPr>
          <p:cNvSpPr/>
          <p:nvPr/>
        </p:nvSpPr>
        <p:spPr>
          <a:xfrm>
            <a:off x="1001932" y="2027466"/>
            <a:ext cx="2507878" cy="60025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Инициализация файлов с данными о графе и маршрутах машин.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2D169F2-79F4-08BE-19B2-65AAE1E71A91}"/>
              </a:ext>
            </a:extLst>
          </p:cNvPr>
          <p:cNvSpPr/>
          <p:nvPr/>
        </p:nvSpPr>
        <p:spPr>
          <a:xfrm>
            <a:off x="893701" y="3875627"/>
            <a:ext cx="2704530" cy="108549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200" b="1" dirty="0"/>
              <a:t>Вычисление позиций машин и их будущих маршрутов, обновление таймеров светофоров и сериализация</a:t>
            </a:r>
            <a:r>
              <a:rPr lang="en-US" sz="1200" b="1" dirty="0"/>
              <a:t> </a:t>
            </a:r>
            <a:r>
              <a:rPr lang="ru-RU" sz="1200" b="1" dirty="0"/>
              <a:t>данных в </a:t>
            </a:r>
            <a:r>
              <a:rPr lang="en-US" sz="1200" b="1" dirty="0" err="1"/>
              <a:t>json</a:t>
            </a:r>
            <a:r>
              <a:rPr lang="en-US" sz="1200" b="1" dirty="0"/>
              <a:t> </a:t>
            </a:r>
            <a:r>
              <a:rPr lang="ru-RU" sz="1200" b="1" dirty="0"/>
              <a:t>формат для отправки по сокету в </a:t>
            </a:r>
            <a:r>
              <a:rPr lang="en-US" sz="1200" b="1" dirty="0"/>
              <a:t>python.</a:t>
            </a:r>
            <a:endParaRPr lang="ru-RU" sz="1200" b="1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9E09405-CD98-6DB7-03E1-085F2E0338BC}"/>
              </a:ext>
            </a:extLst>
          </p:cNvPr>
          <p:cNvSpPr/>
          <p:nvPr/>
        </p:nvSpPr>
        <p:spPr>
          <a:xfrm>
            <a:off x="1001932" y="5411357"/>
            <a:ext cx="2488067" cy="60025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Отрисовка визуализации.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E6ED1007-F8CE-2CE1-3970-479B2462F1A2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2245966" y="2627717"/>
            <a:ext cx="9905" cy="1247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60420A1-F4CC-BC07-BAEE-46A8CB62EE0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245966" y="4961124"/>
            <a:ext cx="0" cy="45023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Соединитель: изогнутый 8">
            <a:extLst>
              <a:ext uri="{FF2B5EF4-FFF2-40B4-BE49-F238E27FC236}">
                <a16:creationId xmlns:a16="http://schemas.microsoft.com/office/drawing/2014/main" id="{660EF190-22F2-CCAE-A466-186A1B204B49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H="1">
            <a:off x="893701" y="3154680"/>
            <a:ext cx="1352264" cy="1263696"/>
          </a:xfrm>
          <a:prstGeom prst="curvedConnector3">
            <a:avLst>
              <a:gd name="adj1" fmla="val -304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Рисунок 33" descr="Изображение выглядит как текст, снимок экран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B2C209-B287-31AC-97A5-57A1BEB5B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315" y="1951536"/>
            <a:ext cx="6899179" cy="4060072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3920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">
              <a:srgbClr val="0F2D69"/>
            </a:gs>
            <a:gs pos="98000">
              <a:srgbClr val="0F2D69"/>
            </a:gs>
            <a:gs pos="83000">
              <a:srgbClr val="E0C2E3"/>
            </a:gs>
            <a:gs pos="22000">
              <a:srgbClr val="E0C2E3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EA711F-208D-8FE5-6F58-E0266D99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528E8E-7F53-852D-2E62-6B86E2C31E09}"/>
              </a:ext>
            </a:extLst>
          </p:cNvPr>
          <p:cNvSpPr txBox="1"/>
          <p:nvPr/>
        </p:nvSpPr>
        <p:spPr>
          <a:xfrm>
            <a:off x="2983376" y="3105834"/>
            <a:ext cx="6225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100"/>
              </a:spcAft>
            </a:pPr>
            <a:r>
              <a:rPr lang="ru-RU" sz="3600" b="1" u="sng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7008364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218</Words>
  <Application>Microsoft Office PowerPoint</Application>
  <PresentationFormat>Широкоэкранный</PresentationFormat>
  <Paragraphs>15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Пробки в графе: анализ значимости теории графов в повседневной жизни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Timur Garipov</dc:creator>
  <cp:lastModifiedBy>Timur Garipov</cp:lastModifiedBy>
  <cp:revision>1</cp:revision>
  <dcterms:created xsi:type="dcterms:W3CDTF">2026-07-10T06:03:00Z</dcterms:created>
  <dcterms:modified xsi:type="dcterms:W3CDTF">2026-07-10T06:18:16Z</dcterms:modified>
</cp:coreProperties>
</file>