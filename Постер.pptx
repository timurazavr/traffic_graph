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63E"/>
    <a:srgbClr val="DFC7F2"/>
    <a:srgbClr val="DCFF05"/>
    <a:srgbClr val="102D69"/>
    <a:srgbClr val="051B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>
        <p:scale>
          <a:sx n="33" d="100"/>
          <a:sy n="33" d="100"/>
        </p:scale>
        <p:origin x="2309" y="19"/>
      </p:cViewPr>
      <p:guideLst>
        <p:guide orient="horz" pos="6735"/>
        <p:guide pos="47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A818AEC-1C88-8701-16BF-370D3D731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D97A84-AE0A-314D-CCFB-2FB92865DF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D6BBA-1C89-4D5D-A7AC-9E8C251DBA2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559AE9-BCDA-B9A0-2BCA-C384B21F70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92DE1D-8159-955A-272F-9F56D977DF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4FA9B-71EE-480B-9439-116D9DBAE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95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123D8-406D-4D43-A8A1-57F7BE66B777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A922B-9D17-41B5-B986-D32D4D1D5D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59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A922B-9D17-41B5-B986-D32D4D1D5D9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84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17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552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32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7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583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16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56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07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04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74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4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C23A5A-3C48-4D54-B9E9-44ACE8AC0C81}" type="datetimeFigureOut">
              <a:rPr lang="ru-RU" smtClean="0"/>
              <a:t>09.07.2026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87361-3001-464C-8E8B-97E4D8B28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62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26000">
              <a:srgbClr val="DFC7F2"/>
            </a:gs>
            <a:gs pos="79000">
              <a:srgbClr val="DFC7F2"/>
            </a:gs>
            <a:gs pos="8000">
              <a:srgbClr val="102D69"/>
            </a:gs>
            <a:gs pos="58000">
              <a:srgbClr val="DFC7F2"/>
            </a:gs>
            <a:gs pos="46000">
              <a:srgbClr val="DFC7F2"/>
            </a:gs>
            <a:gs pos="54000">
              <a:srgbClr val="DCFF05">
                <a:lumMod val="94000"/>
                <a:lumOff val="6000"/>
                <a:alpha val="49000"/>
              </a:srgbClr>
            </a:gs>
            <a:gs pos="100000">
              <a:srgbClr val="102D69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5D4B2B4-BC45-FC66-EEB9-DBCBBB386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679" y="2784204"/>
            <a:ext cx="6425724" cy="15718674"/>
          </a:xfrm>
          <a:ln>
            <a:noFill/>
          </a:ln>
        </p:spPr>
        <p:txBody>
          <a:bodyPr>
            <a:normAutofit/>
          </a:bodyPr>
          <a:lstStyle/>
          <a:p>
            <a:pPr marL="0" indent="0" algn="just">
              <a:spcBef>
                <a:spcPts val="600"/>
              </a:spcBef>
              <a:spcAft>
                <a:spcPts val="100"/>
              </a:spcAft>
              <a:buNone/>
            </a:pPr>
            <a:r>
              <a:rPr lang="ru-RU" sz="2800" b="1" u="sng" dirty="0"/>
              <a:t>Постановка задачи</a:t>
            </a:r>
          </a:p>
          <a:p>
            <a:pPr marL="0" indent="0" algn="just">
              <a:spcBef>
                <a:spcPts val="600"/>
              </a:spcBef>
              <a:spcAft>
                <a:spcPts val="100"/>
              </a:spcAft>
              <a:buNone/>
            </a:pPr>
            <a:r>
              <a:rPr lang="ru-RU" sz="1600" b="1" dirty="0"/>
              <a:t> </a:t>
            </a:r>
            <a:r>
              <a:rPr lang="ru-RU" sz="1600" b="1" dirty="0">
                <a:solidFill>
                  <a:srgbClr val="0E263E"/>
                </a:solidFill>
              </a:rPr>
              <a:t>Объект исследования </a:t>
            </a:r>
            <a:r>
              <a:rPr lang="ru-RU" sz="1600" dirty="0"/>
              <a:t>– городская дорожная сеть, представленная в виде взвешенного ориентированного графа, где вершины – перекрёстки, а рёбра – дороги с пропускной способностью и временем проезда. </a:t>
            </a:r>
          </a:p>
          <a:p>
            <a:pPr marL="0" indent="0" algn="just">
              <a:spcBef>
                <a:spcPts val="600"/>
              </a:spcBef>
              <a:spcAft>
                <a:spcPts val="100"/>
              </a:spcAft>
              <a:buNone/>
            </a:pPr>
            <a:r>
              <a:rPr lang="ru-RU" sz="1600" b="1" dirty="0">
                <a:solidFill>
                  <a:srgbClr val="0E263E"/>
                </a:solidFill>
              </a:rPr>
              <a:t>Предмет исследования </a:t>
            </a:r>
            <a:r>
              <a:rPr lang="ru-RU" sz="1600" dirty="0"/>
              <a:t>– алгоритмы поиска кратчайшего пути (</a:t>
            </a:r>
            <a:r>
              <a:rPr lang="ru-RU" sz="1600" dirty="0" err="1"/>
              <a:t>Дейкстра</a:t>
            </a:r>
            <a:r>
              <a:rPr lang="ru-RU" sz="1600" dirty="0"/>
              <a:t>, A*) и их адаптация к динамически изменяющимся условиям (загруженность дорог, работа светофоров). </a:t>
            </a:r>
          </a:p>
          <a:p>
            <a:pPr marL="0" indent="0" algn="just">
              <a:spcBef>
                <a:spcPts val="600"/>
              </a:spcBef>
              <a:spcAft>
                <a:spcPts val="100"/>
              </a:spcAft>
              <a:buNone/>
            </a:pPr>
            <a:r>
              <a:rPr lang="ru-RU" sz="1600" b="1" dirty="0">
                <a:solidFill>
                  <a:srgbClr val="0E263E"/>
                </a:solidFill>
              </a:rPr>
              <a:t>Цель работы </a:t>
            </a:r>
            <a:r>
              <a:rPr lang="ru-RU" sz="1600" dirty="0"/>
              <a:t>– разработать интерактивную программу с визуализацией дорожной сети, позволяющую наглядно продемонстрировать работу алгоритмов маршрутизации и влияние теории графов на повседневную навигацию.</a:t>
            </a:r>
          </a:p>
          <a:p>
            <a:pPr marL="0" indent="0" algn="just">
              <a:spcBef>
                <a:spcPts val="600"/>
              </a:spcBef>
              <a:spcAft>
                <a:spcPts val="100"/>
              </a:spcAft>
              <a:buNone/>
            </a:pPr>
            <a:r>
              <a:rPr lang="ru-RU" sz="1600" b="1" dirty="0">
                <a:solidFill>
                  <a:srgbClr val="0E263E"/>
                </a:solidFill>
              </a:rPr>
              <a:t>Задачи проекта</a:t>
            </a:r>
            <a:r>
              <a:rPr lang="ru-RU" sz="1600" dirty="0"/>
              <a:t>: </a:t>
            </a:r>
          </a:p>
          <a:p>
            <a:pPr marL="342900" indent="-342900" algn="just">
              <a:spcBef>
                <a:spcPts val="6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dirty="0"/>
              <a:t>Построить модель графа дорожной сети с возможностью задания весов рёбер (время, длина, загруженность). </a:t>
            </a:r>
          </a:p>
          <a:p>
            <a:pPr marL="342900" indent="-342900" algn="just">
              <a:spcBef>
                <a:spcPts val="6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dirty="0"/>
              <a:t>Реализовать алгоритмы поиска кратчайшего пути (</a:t>
            </a:r>
            <a:r>
              <a:rPr lang="ru-RU" sz="1600" dirty="0" err="1"/>
              <a:t>Дейкстра</a:t>
            </a:r>
            <a:r>
              <a:rPr lang="ru-RU" sz="1600" dirty="0"/>
              <a:t> и A*) и сравнить их производительность. </a:t>
            </a:r>
          </a:p>
          <a:p>
            <a:pPr marL="342900" indent="-342900" algn="just">
              <a:spcBef>
                <a:spcPts val="6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dirty="0"/>
              <a:t>Создать динамическую симуляцию движения автомобилей с обновлением позиций и состояний светофоров в реальном времени. </a:t>
            </a:r>
          </a:p>
          <a:p>
            <a:pPr marL="342900" indent="-342900" algn="just">
              <a:spcBef>
                <a:spcPts val="6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dirty="0"/>
              <a:t>Разработать систему визуализации (отображение графа, маршрутов, загруженности рёбер и анимации движения). </a:t>
            </a:r>
          </a:p>
          <a:p>
            <a:pPr marL="342900" indent="-342900" algn="just">
              <a:spcBef>
                <a:spcPts val="600"/>
              </a:spcBef>
              <a:spcAft>
                <a:spcPts val="100"/>
              </a:spcAft>
              <a:buFont typeface="+mj-lt"/>
              <a:buAutoNum type="arabicPeriod"/>
            </a:pPr>
            <a:r>
              <a:rPr lang="ru-RU" sz="1600" dirty="0"/>
              <a:t>Организовать обмен данными между вычислительным модулем и модулем отрисовки через сокеты с использованием JSON-сериализации.</a:t>
            </a:r>
          </a:p>
          <a:p>
            <a:pPr marL="342900" indent="-342900" algn="just">
              <a:spcBef>
                <a:spcPts val="600"/>
              </a:spcBef>
              <a:spcAft>
                <a:spcPts val="100"/>
              </a:spcAft>
              <a:buFont typeface="+mj-lt"/>
              <a:buAutoNum type="arabicPeriod"/>
            </a:pPr>
            <a:endParaRPr lang="ru-RU" sz="1600" dirty="0"/>
          </a:p>
          <a:p>
            <a:pPr marL="0" indent="0" algn="just">
              <a:spcBef>
                <a:spcPts val="600"/>
              </a:spcBef>
              <a:spcAft>
                <a:spcPts val="100"/>
              </a:spcAft>
              <a:buNone/>
            </a:pPr>
            <a:r>
              <a:rPr lang="ru-RU" sz="2800" b="1" u="sng" dirty="0"/>
              <a:t>Актуальность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ru-RU" sz="1600" dirty="0"/>
              <a:t>С каждым годом количество автомобилей в городах растёт, а дорожная инфраструктура остаётся прежней – это приводит к хроническим заторам. 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ru-RU" sz="1600" dirty="0"/>
              <a:t>Современные навигаторы (</a:t>
            </a:r>
            <a:r>
              <a:rPr lang="ru-RU" sz="1600" dirty="0" err="1"/>
              <a:t>Яндекс.Навигатор</a:t>
            </a:r>
            <a:r>
              <a:rPr lang="ru-RU" sz="1600" dirty="0"/>
              <a:t>, Google Maps) ежесекундно решают задачи поиска оптимальных маршрутов, используя алгоритмы на графах. </a:t>
            </a:r>
          </a:p>
          <a:p>
            <a:pPr marL="0" indent="0" algn="just">
              <a:spcBef>
                <a:spcPts val="800"/>
              </a:spcBef>
              <a:buNone/>
            </a:pPr>
            <a:r>
              <a:rPr lang="ru-RU" sz="1600" dirty="0"/>
              <a:t>Теория графов лежит в основе не только навигации, но и глобальной логистики, управления городскими потоками и планирования транспортных сетей.</a:t>
            </a:r>
            <a:endParaRPr lang="en-US" sz="2800" b="1" u="sng" dirty="0"/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endParaRPr lang="ru-RU" sz="1600" b="1" u="sng" dirty="0"/>
          </a:p>
          <a:p>
            <a:pPr marL="0" indent="0" algn="just">
              <a:spcBef>
                <a:spcPts val="600"/>
              </a:spcBef>
              <a:buNone/>
            </a:pPr>
            <a:r>
              <a:rPr lang="ru-RU" sz="2800" b="1" u="sng" dirty="0"/>
              <a:t>Архитектура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1600" dirty="0"/>
              <a:t>Программа реализована на  </a:t>
            </a:r>
            <a:r>
              <a:rPr lang="en-US" sz="1600" dirty="0"/>
              <a:t>C++</a:t>
            </a:r>
            <a:r>
              <a:rPr lang="ru-RU" sz="1600" dirty="0"/>
              <a:t> с разделением на заголовочные (</a:t>
            </a:r>
            <a:r>
              <a:rPr lang="en-US" sz="1600" dirty="0"/>
              <a:t>.h</a:t>
            </a:r>
            <a:r>
              <a:rPr lang="ru-RU" sz="1600" dirty="0"/>
              <a:t>) и исходные (</a:t>
            </a:r>
            <a:r>
              <a:rPr lang="en-US" sz="1600" dirty="0"/>
              <a:t>.</a:t>
            </a:r>
            <a:r>
              <a:rPr lang="en-US" sz="1600" dirty="0" err="1"/>
              <a:t>cpp</a:t>
            </a:r>
            <a:r>
              <a:rPr lang="ru-RU" sz="1600" dirty="0"/>
              <a:t>) файлы, а также на </a:t>
            </a:r>
            <a:r>
              <a:rPr lang="en-US" sz="1600" dirty="0"/>
              <a:t>Python (.</a:t>
            </a:r>
            <a:r>
              <a:rPr lang="en-US" sz="1600" dirty="0" err="1"/>
              <a:t>py</a:t>
            </a:r>
            <a:r>
              <a:rPr lang="en-US" sz="1600" dirty="0"/>
              <a:t>)</a:t>
            </a:r>
            <a:r>
              <a:rPr lang="ru-RU" sz="1600" dirty="0"/>
              <a:t>. </a:t>
            </a:r>
            <a:r>
              <a:rPr lang="en-US" sz="1600" dirty="0" err="1"/>
              <a:t>Cmd</a:t>
            </a:r>
            <a:r>
              <a:rPr lang="en-US" sz="1600" dirty="0"/>
              <a:t> </a:t>
            </a:r>
            <a:r>
              <a:rPr lang="ru-RU" sz="1600" dirty="0"/>
              <a:t>файл для компиляции и своевременного запуска.</a:t>
            </a:r>
          </a:p>
          <a:p>
            <a:pPr marL="0" indent="0" algn="just">
              <a:spcBef>
                <a:spcPts val="600"/>
              </a:spcBef>
              <a:buNone/>
            </a:pPr>
            <a:endParaRPr lang="ru-RU" sz="1600" dirty="0"/>
          </a:p>
          <a:p>
            <a:pPr marL="0" indent="0" algn="just">
              <a:spcBef>
                <a:spcPts val="600"/>
              </a:spcBef>
              <a:buNone/>
            </a:pPr>
            <a:endParaRPr lang="en-US" sz="2800" b="1" u="sng" dirty="0"/>
          </a:p>
          <a:p>
            <a:pPr marL="0" indent="0" algn="just">
              <a:spcBef>
                <a:spcPts val="600"/>
              </a:spcBef>
              <a:buNone/>
            </a:pPr>
            <a:endParaRPr lang="ru-RU" sz="1600" dirty="0"/>
          </a:p>
          <a:p>
            <a:pPr marL="0" indent="0" algn="just">
              <a:spcBef>
                <a:spcPts val="600"/>
              </a:spcBef>
              <a:buNone/>
            </a:pPr>
            <a:endParaRPr lang="ru-RU" sz="1600" dirty="0"/>
          </a:p>
          <a:p>
            <a:pPr marL="0" indent="0" algn="just">
              <a:spcBef>
                <a:spcPts val="600"/>
              </a:spcBef>
              <a:buNone/>
            </a:pPr>
            <a:endParaRPr lang="ru-RU" sz="16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3E0E72E-B518-753F-4F76-4570EBC9C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77572" y="2784204"/>
            <a:ext cx="6586508" cy="15927221"/>
          </a:xfrm>
        </p:spPr>
        <p:txBody>
          <a:bodyPr>
            <a:norm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ru-RU" sz="2800" b="1" u="sng" dirty="0"/>
              <a:t>Дизайн эксперимента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600" b="1" dirty="0">
                <a:solidFill>
                  <a:srgbClr val="0E263E"/>
                </a:solidFill>
              </a:rPr>
              <a:t>Метрики оценки: </a:t>
            </a:r>
            <a:r>
              <a:rPr lang="ru-RU" sz="1600" dirty="0">
                <a:solidFill>
                  <a:srgbClr val="0E263E"/>
                </a:solidFill>
              </a:rPr>
              <a:t>Расстояние между перекрёстками в метрах </a:t>
            </a:r>
            <a:r>
              <a:rPr lang="ru-RU" sz="1600" dirty="0"/>
              <a:t>и время в секундах, также используются условные единицы времени (тики).</a:t>
            </a:r>
            <a:endParaRPr lang="ru-RU" sz="1600" b="1" dirty="0"/>
          </a:p>
          <a:p>
            <a:pPr marL="0" indent="0">
              <a:spcBef>
                <a:spcPts val="800"/>
              </a:spcBef>
              <a:buNone/>
            </a:pPr>
            <a:r>
              <a:rPr lang="ru-RU" sz="1600" b="1" dirty="0">
                <a:solidFill>
                  <a:srgbClr val="0E263E"/>
                </a:solidFill>
              </a:rPr>
              <a:t>Аппаратное обеспечение:</a:t>
            </a:r>
            <a:r>
              <a:rPr lang="ru-RU" sz="1600" dirty="0">
                <a:solidFill>
                  <a:srgbClr val="0E263E"/>
                </a:solidFill>
              </a:rPr>
              <a:t> </a:t>
            </a:r>
            <a:endParaRPr lang="en-US" sz="1600" dirty="0">
              <a:solidFill>
                <a:srgbClr val="0E263E"/>
              </a:solidFill>
            </a:endParaRPr>
          </a:p>
          <a:p>
            <a:pPr marL="0" lvl="1" indent="0">
              <a:spcBef>
                <a:spcPts val="800"/>
              </a:spcBef>
              <a:buNone/>
            </a:pPr>
            <a:endParaRPr lang="en-US" sz="1600" dirty="0"/>
          </a:p>
          <a:p>
            <a:pPr marL="0" lvl="1" indent="0">
              <a:spcBef>
                <a:spcPts val="800"/>
              </a:spcBef>
              <a:buNone/>
            </a:pPr>
            <a:endParaRPr lang="ru-RU" sz="1600" dirty="0"/>
          </a:p>
          <a:p>
            <a:pPr marL="0" lvl="1" indent="0">
              <a:spcBef>
                <a:spcPts val="800"/>
              </a:spcBef>
              <a:buNone/>
            </a:pPr>
            <a:endParaRPr lang="ru-RU" sz="1600" b="1" dirty="0">
              <a:solidFill>
                <a:srgbClr val="0E263E"/>
              </a:solidFill>
            </a:endParaRPr>
          </a:p>
          <a:p>
            <a:pPr marL="0" lvl="1" indent="0">
              <a:spcBef>
                <a:spcPts val="800"/>
              </a:spcBef>
              <a:buNone/>
            </a:pPr>
            <a:r>
              <a:rPr lang="ru-RU" sz="1600" b="1" dirty="0">
                <a:solidFill>
                  <a:srgbClr val="0E263E"/>
                </a:solidFill>
              </a:rPr>
              <a:t>Среда разработки и компилятор:</a:t>
            </a:r>
            <a: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/>
              <a:t>VS Code </a:t>
            </a:r>
            <a:r>
              <a:rPr lang="ru-RU" sz="1600" dirty="0"/>
              <a:t>с компилятором G</a:t>
            </a:r>
            <a:r>
              <a:rPr lang="en-US" sz="1600" dirty="0"/>
              <a:t>++</a:t>
            </a:r>
            <a:r>
              <a:rPr lang="ru-RU" sz="1600" dirty="0"/>
              <a:t> для C++ </a:t>
            </a:r>
            <a:r>
              <a:rPr lang="en-US" sz="1600" dirty="0"/>
              <a:t>(</a:t>
            </a:r>
            <a:r>
              <a:rPr lang="ru-RU" sz="1600" dirty="0"/>
              <a:t>вычисления), также </a:t>
            </a:r>
            <a:r>
              <a:rPr lang="en-US" sz="1600" dirty="0"/>
              <a:t>Python</a:t>
            </a:r>
            <a:r>
              <a:rPr lang="ru-RU" sz="1600" dirty="0"/>
              <a:t>(визуализация).</a:t>
            </a:r>
            <a:endParaRPr lang="en-US" sz="1600" dirty="0"/>
          </a:p>
          <a:p>
            <a:pPr marL="0" lvl="1" indent="0">
              <a:spcBef>
                <a:spcPts val="800"/>
              </a:spcBef>
              <a:spcAft>
                <a:spcPts val="1800"/>
              </a:spcAft>
              <a:buNone/>
            </a:pPr>
            <a:r>
              <a:rPr lang="ru-RU" sz="1600" b="1" dirty="0">
                <a:solidFill>
                  <a:srgbClr val="0E263E"/>
                </a:solidFill>
              </a:rPr>
              <a:t>Замер времени:</a:t>
            </a:r>
            <a:r>
              <a:rPr lang="ru-RU" sz="1600" dirty="0">
                <a:solidFill>
                  <a:srgbClr val="0E263E"/>
                </a:solidFill>
              </a:rPr>
              <a:t> </a:t>
            </a:r>
            <a:r>
              <a:rPr lang="ru-RU" sz="1600" dirty="0"/>
              <a:t>Системный таймер </a:t>
            </a:r>
            <a:r>
              <a:rPr lang="ru-RU" sz="1600" dirty="0" err="1"/>
              <a:t>std</a:t>
            </a:r>
            <a:r>
              <a:rPr lang="ru-RU" sz="1600" dirty="0"/>
              <a:t>::</a:t>
            </a:r>
            <a:r>
              <a:rPr lang="ru-RU" sz="1600" dirty="0" err="1"/>
              <a:t>chrono</a:t>
            </a:r>
            <a:r>
              <a:rPr lang="ru-RU" sz="1600" dirty="0"/>
              <a:t>::</a:t>
            </a:r>
            <a:r>
              <a:rPr lang="ru-RU" sz="1600" dirty="0" err="1"/>
              <a:t>high_resolution_clock</a:t>
            </a:r>
            <a:r>
              <a:rPr lang="ru-RU" sz="1600" dirty="0"/>
              <a:t>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ru-RU" sz="2800" b="1" u="sng" dirty="0"/>
              <a:t>Гипотезы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b="1" dirty="0">
                <a:solidFill>
                  <a:srgbClr val="0E263E"/>
                </a:solidFill>
              </a:rPr>
              <a:t>Использование </a:t>
            </a:r>
            <a:r>
              <a:rPr lang="en-US" sz="1600" b="1" dirty="0">
                <a:solidFill>
                  <a:srgbClr val="0E263E"/>
                </a:solidFill>
              </a:rPr>
              <a:t>A* </a:t>
            </a:r>
            <a:r>
              <a:rPr lang="ru-RU" sz="1600" b="1" dirty="0">
                <a:solidFill>
                  <a:srgbClr val="0E263E"/>
                </a:solidFill>
              </a:rPr>
              <a:t>вместо </a:t>
            </a:r>
            <a:r>
              <a:rPr lang="ru-RU" sz="1600" b="1" dirty="0" err="1">
                <a:solidFill>
                  <a:srgbClr val="0E263E"/>
                </a:solidFill>
              </a:rPr>
              <a:t>Дейкстры</a:t>
            </a:r>
            <a:r>
              <a:rPr lang="ru-RU" sz="1600" b="1" dirty="0">
                <a:solidFill>
                  <a:srgbClr val="0E263E"/>
                </a:solidFill>
              </a:rPr>
              <a:t>: </a:t>
            </a:r>
            <a:r>
              <a:rPr lang="ru-RU" sz="1600" dirty="0"/>
              <a:t>В худшем случае если эвристика равна нулю (h(x) = 0), то </a:t>
            </a:r>
            <a:r>
              <a:rPr lang="en-US" sz="1600" dirty="0"/>
              <a:t>A* </a:t>
            </a:r>
            <a:r>
              <a:rPr lang="ru-RU" sz="1600" dirty="0"/>
              <a:t>вырождается в классический алгоритм </a:t>
            </a:r>
            <a:r>
              <a:rPr lang="ru-RU" sz="1600" dirty="0" err="1"/>
              <a:t>Дейкстры</a:t>
            </a:r>
            <a:r>
              <a:rPr lang="ru-RU" sz="1600" dirty="0"/>
              <a:t>, но зачастую он оптимальнее.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ru-RU" sz="1600" b="1" dirty="0">
                <a:solidFill>
                  <a:srgbClr val="0E263E"/>
                </a:solidFill>
              </a:rPr>
              <a:t>Динамические веса рёбер:</a:t>
            </a:r>
            <a:r>
              <a:rPr lang="ru-RU" sz="1600" dirty="0">
                <a:solidFill>
                  <a:srgbClr val="0E263E"/>
                </a:solidFill>
              </a:rPr>
              <a:t> </a:t>
            </a:r>
            <a:r>
              <a:rPr lang="ru-RU" sz="1600" dirty="0"/>
              <a:t>Введение динамических весов рёбер, отражающих текущую загруженность дорог (пробки), позволяет сократить среднее время в пути на 15–30% по сравнению с маршрутами, построенными по статическим данным.</a:t>
            </a:r>
          </a:p>
          <a:p>
            <a:pPr marL="0" lvl="1" indent="0">
              <a:spcBef>
                <a:spcPts val="600"/>
              </a:spcBef>
              <a:buNone/>
            </a:pPr>
            <a:endParaRPr lang="ru-RU" sz="2800" b="1" u="sng" dirty="0"/>
          </a:p>
          <a:p>
            <a:pPr marL="0" lvl="1" indent="0">
              <a:spcBef>
                <a:spcPts val="600"/>
              </a:spcBef>
              <a:buNone/>
            </a:pPr>
            <a:r>
              <a:rPr lang="ru-RU" sz="2800" b="1" u="sng" dirty="0"/>
              <a:t>Визуализация сравнения алгоритмов</a:t>
            </a:r>
            <a:endParaRPr lang="ru-RU" sz="2800" u="sng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307F5FE-273E-B04A-343A-2A4C05425103}"/>
              </a:ext>
            </a:extLst>
          </p:cNvPr>
          <p:cNvSpPr/>
          <p:nvPr/>
        </p:nvSpPr>
        <p:spPr>
          <a:xfrm>
            <a:off x="2172923" y="14054679"/>
            <a:ext cx="2898335" cy="11525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Инициализация файлов с данными о графе и маршрутах машин.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1DF60AAA-4C40-D183-F43A-F60ADAA6584A}"/>
              </a:ext>
            </a:extLst>
          </p:cNvPr>
          <p:cNvSpPr/>
          <p:nvPr/>
        </p:nvSpPr>
        <p:spPr>
          <a:xfrm>
            <a:off x="2059288" y="15977431"/>
            <a:ext cx="3125604" cy="208423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ru-RU" sz="1600" b="1" dirty="0"/>
              <a:t>Вычисление позиций машин и их будущих маршрутов, обновление таймеров светофоров и сериализация</a:t>
            </a:r>
            <a:r>
              <a:rPr lang="en-US" sz="1600" b="1" dirty="0"/>
              <a:t> </a:t>
            </a:r>
            <a:r>
              <a:rPr lang="ru-RU" sz="1600" b="1" dirty="0"/>
              <a:t>данных в </a:t>
            </a:r>
            <a:r>
              <a:rPr lang="en-US" sz="1600" b="1" dirty="0" err="1"/>
              <a:t>json</a:t>
            </a:r>
            <a:r>
              <a:rPr lang="en-US" sz="1600" b="1" dirty="0"/>
              <a:t> </a:t>
            </a:r>
            <a:r>
              <a:rPr lang="ru-RU" sz="1600" b="1" dirty="0"/>
              <a:t>формат для отправки по сокету в </a:t>
            </a:r>
            <a:r>
              <a:rPr lang="en-US" sz="1600" b="1" dirty="0"/>
              <a:t>python.</a:t>
            </a:r>
            <a:endParaRPr lang="ru-RU" sz="1600" b="1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1CF7145-61D5-DA35-D2C0-4EAB21430159}"/>
              </a:ext>
            </a:extLst>
          </p:cNvPr>
          <p:cNvSpPr/>
          <p:nvPr/>
        </p:nvSpPr>
        <p:spPr>
          <a:xfrm>
            <a:off x="2195818" y="18831891"/>
            <a:ext cx="2875440" cy="115252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Отрисовка визуализации.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E10C9D34-D040-4429-F612-E287F3750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570987"/>
              </p:ext>
            </p:extLst>
          </p:nvPr>
        </p:nvGraphicFramePr>
        <p:xfrm>
          <a:off x="7677475" y="4456776"/>
          <a:ext cx="4250508" cy="609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254642">
                  <a:extLst>
                    <a:ext uri="{9D8B030D-6E8A-4147-A177-3AD203B41FA5}">
                      <a16:colId xmlns:a16="http://schemas.microsoft.com/office/drawing/2014/main" val="1531347492"/>
                    </a:ext>
                  </a:extLst>
                </a:gridCol>
                <a:gridCol w="2995866">
                  <a:extLst>
                    <a:ext uri="{9D8B030D-6E8A-4147-A177-3AD203B41FA5}">
                      <a16:colId xmlns:a16="http://schemas.microsoft.com/office/drawing/2014/main" val="790655813"/>
                    </a:ext>
                  </a:extLst>
                </a:gridCol>
              </a:tblGrid>
              <a:tr h="2398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CPU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Intel(R) Core(TM) i5-1155G7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48554"/>
                  </a:ext>
                </a:extLst>
              </a:tr>
              <a:tr h="2398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RAM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 GB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36697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8000EB5-D332-0E99-5005-BDA9FE228A89}"/>
              </a:ext>
            </a:extLst>
          </p:cNvPr>
          <p:cNvSpPr txBox="1"/>
          <p:nvPr/>
        </p:nvSpPr>
        <p:spPr>
          <a:xfrm>
            <a:off x="7570619" y="11811015"/>
            <a:ext cx="7389628" cy="581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endParaRPr lang="ru-RU" sz="2800" b="1" u="sng" dirty="0"/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2800" b="1" u="sng" dirty="0"/>
              <a:t>Выводы: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600" b="1" dirty="0">
                <a:solidFill>
                  <a:srgbClr val="0E263E"/>
                </a:solidFill>
              </a:rPr>
              <a:t>1. Гипотеза 1 подтверждена: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600" dirty="0"/>
              <a:t>При худшем случае </a:t>
            </a:r>
            <a:r>
              <a:rPr lang="en-US" sz="1600" dirty="0"/>
              <a:t>A*</a:t>
            </a:r>
            <a:r>
              <a:rPr lang="ru-RU" sz="1600" dirty="0"/>
              <a:t>превращается в </a:t>
            </a:r>
            <a:r>
              <a:rPr lang="ru-RU" sz="1600" dirty="0" err="1"/>
              <a:t>Дейкстру</a:t>
            </a:r>
            <a:r>
              <a:rPr lang="ru-RU" sz="1600" dirty="0"/>
              <a:t>, но в большинстве случаев эвристика отрабатывает штатно и получается сэкономить на посещении нежелательных вершин.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600" b="1" dirty="0">
                <a:solidFill>
                  <a:srgbClr val="0E263E"/>
                </a:solidFill>
              </a:rPr>
              <a:t>2. Гипотеза 2 подтверждена: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ru-RU" sz="1600" dirty="0"/>
              <a:t>При статических ребрах время при увеличении растёт почти квадратично, при динамичных линейно, так что при больших нагрузках разница внушительная.</a:t>
            </a: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E5360699-7677-1C12-8902-39B111A9B43B}"/>
              </a:ext>
            </a:extLst>
          </p:cNvPr>
          <p:cNvSpPr/>
          <p:nvPr/>
        </p:nvSpPr>
        <p:spPr>
          <a:xfrm>
            <a:off x="11858625" y="18599421"/>
            <a:ext cx="2402116" cy="2392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48CEAD-6D61-0295-0F97-F3636E982D65}"/>
              </a:ext>
            </a:extLst>
          </p:cNvPr>
          <p:cNvSpPr txBox="1"/>
          <p:nvPr/>
        </p:nvSpPr>
        <p:spPr>
          <a:xfrm>
            <a:off x="7667950" y="18599421"/>
            <a:ext cx="38293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QR-</a:t>
            </a:r>
            <a:r>
              <a:rPr lang="ru-RU" sz="2800" b="1" u="sng" dirty="0"/>
              <a:t>код на репозиторий</a:t>
            </a:r>
            <a:r>
              <a:rPr lang="en-US" sz="2800" b="1" u="sng" dirty="0"/>
              <a:t> </a:t>
            </a:r>
            <a:br>
              <a:rPr lang="en-US" sz="2800" b="1" u="sng" dirty="0"/>
            </a:br>
            <a:r>
              <a:rPr lang="ru-RU" sz="2800" b="1" u="sng" dirty="0"/>
              <a:t>с исходным кодом</a:t>
            </a:r>
            <a:r>
              <a:rPr lang="en-US" sz="2800" b="1" u="sng" dirty="0"/>
              <a:t>:</a:t>
            </a:r>
            <a:endParaRPr lang="ru-RU" sz="2800" b="1" u="sng" dirty="0"/>
          </a:p>
        </p:txBody>
      </p:sp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87927481-9292-61AF-78FF-46852A55F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0811387" y="1704864"/>
            <a:ext cx="2539669" cy="483911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DA8BEC54-3E7E-74B5-C661-DF0691BF8A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2603" y="1564232"/>
            <a:ext cx="761598" cy="765174"/>
          </a:xfrm>
          <a:prstGeom prst="rect">
            <a:avLst/>
          </a:prstGeom>
        </p:spPr>
      </p:pic>
      <p:sp>
        <p:nvSpPr>
          <p:cNvPr id="103" name="Заголовок 102">
            <a:extLst>
              <a:ext uri="{FF2B5EF4-FFF2-40B4-BE49-F238E27FC236}">
                <a16:creationId xmlns:a16="http://schemas.microsoft.com/office/drawing/2014/main" id="{E9EA6874-64A9-EF46-49FB-38243238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07" y="405172"/>
            <a:ext cx="14397039" cy="149032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4000" b="1" dirty="0"/>
              <a:t>Пробки в графе</a:t>
            </a:r>
            <a:r>
              <a:rPr lang="en-US" sz="4000" b="1" dirty="0"/>
              <a:t>:</a:t>
            </a:r>
            <a:r>
              <a:rPr lang="ru-RU" sz="4000" b="1" dirty="0"/>
              <a:t> анализ значимости теории графов в</a:t>
            </a:r>
            <a:br>
              <a:rPr lang="ru-RU" sz="4000" b="1" dirty="0"/>
            </a:br>
            <a:r>
              <a:rPr lang="ru-RU" sz="4000" b="1" dirty="0"/>
              <a:t>повседневной жизни</a:t>
            </a:r>
            <a:br>
              <a:rPr lang="ru-RU" sz="4000" b="1" dirty="0"/>
            </a:br>
            <a:endParaRPr lang="ru-RU" sz="4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C89D09B-1DCC-2F46-A4BF-BB2F424AB42D}"/>
              </a:ext>
            </a:extLst>
          </p:cNvPr>
          <p:cNvSpPr txBox="1"/>
          <p:nvPr/>
        </p:nvSpPr>
        <p:spPr>
          <a:xfrm>
            <a:off x="563207" y="1564232"/>
            <a:ext cx="3891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Команда «Низкоуровневый»:</a:t>
            </a:r>
            <a:br>
              <a:rPr lang="ru-RU" i="1" dirty="0"/>
            </a:br>
            <a:r>
              <a:rPr lang="ru-RU" i="1" dirty="0"/>
              <a:t>Гарипов Тимур, ГБОУ Школа №1400</a:t>
            </a:r>
            <a:endParaRPr lang="ru-RU" dirty="0"/>
          </a:p>
        </p:txBody>
      </p:sp>
      <p:pic>
        <p:nvPicPr>
          <p:cNvPr id="3" name="Рисунок 2" descr="Изображение выглядит как графическая вставка, снимок экрана, График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C69430-DD27-4FD9-0C34-D402C1768A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391" y="1328600"/>
            <a:ext cx="1067417" cy="1067417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1B905E4-FD6A-D7BF-1CE9-563265BD7A0D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3622090" y="15207204"/>
            <a:ext cx="1" cy="770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79BA8421-E892-F4A9-9695-8F287F02C46C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3622090" y="18061663"/>
            <a:ext cx="11448" cy="77022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Соединитель: изогнутый 31">
            <a:extLst>
              <a:ext uri="{FF2B5EF4-FFF2-40B4-BE49-F238E27FC236}">
                <a16:creationId xmlns:a16="http://schemas.microsoft.com/office/drawing/2014/main" id="{BF5666FA-0472-0584-314D-F38661E938F1}"/>
              </a:ext>
            </a:extLst>
          </p:cNvPr>
          <p:cNvCxnSpPr>
            <a:stCxn id="34" idx="1"/>
          </p:cNvCxnSpPr>
          <p:nvPr/>
        </p:nvCxnSpPr>
        <p:spPr>
          <a:xfrm rot="10800000" flipH="1">
            <a:off x="2059288" y="15592317"/>
            <a:ext cx="1562802" cy="1427230"/>
          </a:xfrm>
          <a:prstGeom prst="curvedConnector3">
            <a:avLst>
              <a:gd name="adj1" fmla="val -7684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Рисунок 40" descr="Изображение выглядит как текст, Шрифт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CFB4E6-3024-8873-43B1-60354EA9B7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289" y="557643"/>
            <a:ext cx="2609330" cy="2609330"/>
          </a:xfrm>
          <a:prstGeom prst="rect">
            <a:avLst/>
          </a:prstGeom>
        </p:spPr>
      </p:pic>
      <p:pic>
        <p:nvPicPr>
          <p:cNvPr id="43" name="Рисунок 42" descr="Изображение выглядит как шаблон, Графика, пиксель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0A0CE6-FD11-28D5-A71F-232C3EC5E5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046" y="18634140"/>
            <a:ext cx="2323274" cy="2323274"/>
          </a:xfrm>
          <a:prstGeom prst="rect">
            <a:avLst/>
          </a:prstGeom>
        </p:spPr>
      </p:pic>
      <p:pic>
        <p:nvPicPr>
          <p:cNvPr id="53" name="Рисунок 52" descr="Изображение выглядит как текст, снимок экран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A62191-46CB-0749-056D-3B801FA600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427" y="10249604"/>
            <a:ext cx="6899179" cy="4060072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600824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848</TotalTime>
  <Words>550</Words>
  <Application>Microsoft Office PowerPoint</Application>
  <PresentationFormat>Произвольный</PresentationFormat>
  <Paragraphs>57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Пробки в графе: анализ значимости теории графов в повседневной жизни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ds</dc:creator>
  <cp:lastModifiedBy>Timur Garipov</cp:lastModifiedBy>
  <cp:revision>31</cp:revision>
  <dcterms:created xsi:type="dcterms:W3CDTF">2026-07-07T09:07:03Z</dcterms:created>
  <dcterms:modified xsi:type="dcterms:W3CDTF">2026-07-09T10:11:00Z</dcterms:modified>
</cp:coreProperties>
</file>